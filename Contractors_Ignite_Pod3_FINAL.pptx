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DE7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CONTRACTORS IGNITE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3 Onboarding: Kyle &amp; Abdullah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DE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25,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WE'LL COVER TODAY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Company Vision &amp; Growth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642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Contractor Industry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4825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Business Model &amp; Offer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3230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How We Generate Results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163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Sales Process &amp; ICP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Service Delivery Flow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584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Organizational Structure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96849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Layer 1 vs Layer 2 Metrics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35254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KPI Diagnosis Playbook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7365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Culture &amp; Performance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Tools &amp; Systems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E7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COMPANY VISION &amp; GROWTH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STORY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DE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SIDE HUSTLE TO INDUSTRY LEADER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Contractors Ignite began when Mani and Oscar, then just 15 years old, set out to help their families by using their skills to support local contractors.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started as a small side project quickly grew into a proven system for generating qualified leads and booked appointments for contractors across multiple industries.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ROOFIGNITE TO CONTRACTORS IGNITE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E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EVOLUTION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as Roof Ignite (roofing-focused)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to multi-niche contractor marketing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Roofing, HVAC, Gutters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Additional contractor trades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E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EXPANSION?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0" y="182880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systems work across niches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Diversification strengthens business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addressable market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model, different industries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WE ARE &amp; WHERE WE'RE GOING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457200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DE7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$200,000/month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contractor verticals</a:t>
            </a:r>
            <a:endParaRPr lang="en-US" sz="16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infrastructure solved</a:t>
            </a:r>
            <a:endParaRPr lang="en-US" sz="16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acquisition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371600"/>
            <a:ext cx="4846320" cy="3200400"/>
          </a:xfrm>
          <a:prstGeom prst="rect">
            <a:avLst/>
          </a:prstGeom>
          <a:solidFill>
            <a:srgbClr val="FDE74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554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$1,000,000/month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675120" y="301752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 scaling phase</a:t>
            </a:r>
            <a:endParaRPr lang="en-US" sz="16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retention &amp; performance</a:t>
            </a:r>
            <a:endParaRPr lang="en-US" sz="16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World-class operations team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ROLE IS CRITICAL TO THIS MISSION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E7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RETENTION &gt; ACQUISITION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additional cycle = compounding revenue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E7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CONTRACTOR INDUSTRY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UNDERSTANDING THE CONTRACTOR INDUSTRY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3200400" cy="3200400"/>
          </a:xfrm>
          <a:prstGeom prst="rect">
            <a:avLst/>
          </a:prstGeom>
          <a:solidFill>
            <a:srgbClr val="FDE74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ROOFING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$50B+</a:t>
            </a:r>
            <a:endParaRPr lang="en-US" sz="20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480560" y="1645920"/>
            <a:ext cx="320040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HVAC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480560" y="25603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$100B+</a:t>
            </a:r>
            <a:endParaRPr lang="en-US" sz="20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046720" y="1645920"/>
            <a:ext cx="3200400" cy="3200400"/>
          </a:xfrm>
          <a:prstGeom prst="rect">
            <a:avLst/>
          </a:prstGeom>
          <a:solidFill>
            <a:srgbClr val="FDE74C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GUTTERS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046720" y="25603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$8B+</a:t>
            </a:r>
            <a:endParaRPr lang="en-US" sz="20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ROOFING INDUSTRY 101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Job Value: $8,000 - $25,000</a:t>
            </a:r>
            <a:endParaRPr lang="en-US" sz="2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Business (Spring/Summer peak)</a:t>
            </a:r>
            <a:endParaRPr lang="en-US" sz="2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claims drive 40%+ of business</a:t>
            </a:r>
            <a:endParaRPr lang="en-US" sz="2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High-ticket, considered purchase</a:t>
            </a:r>
            <a:endParaRPr lang="en-US" sz="2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and reputation are everything</a:t>
            </a:r>
            <a:endParaRPr lang="en-US" sz="2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cycle: 7-21 days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HVAC INDUSTRY 101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of emergency + planned replacements</a:t>
            </a:r>
            <a:endParaRPr lang="en-US" sz="2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Install: $5,000 - $15,000</a:t>
            </a:r>
            <a:endParaRPr lang="en-US" sz="2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Year-round business opportunity</a:t>
            </a:r>
            <a:endParaRPr lang="en-US" sz="2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contracts = recurring revenue</a:t>
            </a:r>
            <a:endParaRPr lang="en-US" sz="2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efficiency is key selling point</a:t>
            </a:r>
            <a:endParaRPr lang="en-US" sz="2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to lead CRITICAL (5 min response)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GUTTER INDUSTRY 101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ticket size - volume business</a:t>
            </a:r>
            <a:endParaRPr lang="en-US" sz="2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job: $1,000 - $5,000</a:t>
            </a:r>
            <a:endParaRPr lang="en-US" sz="2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bundled with roofing/siding</a:t>
            </a:r>
            <a:endParaRPr lang="en-US" sz="2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Seasonal: Spring &amp; Fall</a:t>
            </a:r>
            <a:endParaRPr lang="en-US" sz="2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sales cycles (less complexity)</a:t>
            </a:r>
            <a:endParaRPr lang="en-US" sz="2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2-3x leads vs roofing for profitability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HOMEOWNER PSYCHOLOGY (B2C)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purchase = high anxiety</a:t>
            </a:r>
            <a:endParaRPr lang="en-US" sz="2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education + reassurance</a:t>
            </a:r>
            <a:endParaRPr lang="en-US" sz="2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and referrals drive decisions</a:t>
            </a:r>
            <a:endParaRPr lang="en-US" sz="2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matters (especially emergencies)</a:t>
            </a:r>
            <a:endParaRPr lang="en-US" sz="2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They're buying trust, not just service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E7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 &amp; OFFER</a:t>
            </a:r>
            <a:endParaRPr lang="en-US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STRUCTURE OUR OFFER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E7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28-DAY CYCLE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Performance-based pricing</a:t>
            </a:r>
            <a:endParaRPr lang="en-US" sz="2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pay per appointment booked</a:t>
            </a:r>
            <a:endParaRPr lang="en-US" sz="2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handle: Ads, Landing Pages, CRM, VAs</a:t>
            </a:r>
            <a:endParaRPr lang="en-US" sz="2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28-day cycles = predictable revenue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28-DAY CYCLE MODEL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2468880" cy="2286000"/>
          </a:xfrm>
          <a:prstGeom prst="rect">
            <a:avLst/>
          </a:prstGeom>
          <a:solidFill>
            <a:srgbClr val="FDE74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ads, generate leads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20440" y="1828800"/>
            <a:ext cx="246888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352044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703320" y="265176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 leads, book appointments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2468880" cy="2286000"/>
          </a:xfrm>
          <a:prstGeom prst="rect">
            <a:avLst/>
          </a:prstGeom>
          <a:solidFill>
            <a:srgbClr val="FDE74C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09360" y="265176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performance, scale winners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32520" y="1828800"/>
            <a:ext cx="246888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873252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15400" y="265176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results, plan next cycle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WINTER PROGRAM &amp; PEAK SEASONS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Roofing is seasonal - we adapt our approach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E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SEASON (Spring/Summer/Fall)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service, aggressive scaling, maximum volume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E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 PROGRAM (November - February)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 model, maintenance mode, relationship focus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Winter Retainer Plan SOP for full details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MODEL WORKS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 for clients (performance-based)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revenue for us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incentives = better results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cycles build compounding value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E7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GENERATE RESULTS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FULL FUNNEL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 → Landing Page → Survey → CRM → VA → Appointment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BUILD FOR CLIENTS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 campaigns (targeting, creative, optimization)</a:t>
            </a:r>
            <a:endParaRPr lang="en-US" sz="2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High-converting landing pages</a:t>
            </a:r>
            <a:endParaRPr lang="en-US" sz="2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funnels (qualify leads)</a:t>
            </a:r>
            <a:endParaRPr lang="en-US" sz="2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GoHighLevel CRM setup</a:t>
            </a:r>
            <a:endParaRPr lang="en-US" sz="2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 team to qualify + book appointments</a:t>
            </a:r>
            <a:endParaRPr lang="en-US" sz="2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reporting &amp; optimization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80/20 OF PERFORMANCE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DE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of results come from: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Creative + Offer + Targeting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Creative: The ad itself (image, video, copy)</a:t>
            </a:r>
            <a:endParaRPr lang="en-US" sz="2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Offer: What we're promising (free estimate, etc)</a:t>
            </a:r>
            <a:endParaRPr lang="en-US" sz="2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Targeting: Who sees the ad (demographics, location)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DE7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5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PROCESS &amp; ICP</a:t>
            </a:r>
            <a:endParaRPr lang="en-US" sz="4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ACQUIRE CLIENTS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prospecting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Referrals from existing clients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partnerships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thought leadership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A, B, C, D CONTRACTOR TIERS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2286000" cy="640080"/>
          </a:xfrm>
          <a:prstGeom prst="rect">
            <a:avLst/>
          </a:prstGeom>
          <a:solidFill>
            <a:srgbClr val="00CC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A-Tier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383280" y="1508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in market, high standards, systems in place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2286000" cy="640080"/>
          </a:xfrm>
          <a:prstGeom prst="rect">
            <a:avLst/>
          </a:prstGeom>
          <a:solidFill>
            <a:srgbClr val="FDE74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B-Tier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383280" y="2423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Growing, professional, ready to scale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2286000" cy="6400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C-Tier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83280" y="3337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operations, less organized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4114800"/>
            <a:ext cx="2286000" cy="6400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D-Tier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83280" y="4251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our ICP - poor fit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IDEAL CLIENT PROFILE (ICP)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$1M+ annual revenue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reputation in market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to handle increased volume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operations &amp; systems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Growth-minded owner/leadership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DE7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6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 DELIVERY FLOW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CLIENT JOURNEY - OVERVIEW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Sales Call → 2. Contract Signed → 3. Handoff to Operations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Onboarding Call → 5. Service Delivery Setup → 6. Launch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Optimization → 8. Cycle Completion → 9. Renewal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4: ONBOARDING CALL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client's business, goals, capacity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all assets (photos, videos, reviews)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expectations for timeline &amp; deliverables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everything in Asana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5: SERVICE DELIVERY SETUP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GoHighLevel account (CRM + automation)</a:t>
            </a:r>
            <a:endParaRPr lang="en-US" sz="2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landing pages &amp; survey funnels</a:t>
            </a:r>
            <a:endParaRPr lang="en-US" sz="2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Meta Ads account structure</a:t>
            </a:r>
            <a:endParaRPr lang="en-US" sz="2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with VA team for appointment setting</a:t>
            </a:r>
            <a:endParaRPr lang="en-US" sz="2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3-5 hours for experienced operators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APIS &amp; ZAPIER INTEGRATIONS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E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Clients Have Their Own CRMs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Identify client's existing CRM system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Map data fields between our system and theirs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Set up Zapier automation or API connection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Test data flow in both directions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Monitor for errors and sync issues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integrate our process within THEIR system seamlessly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6-7: LAUNCH &amp; OPTIMIZATION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1: Launch ads, monitor closely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2-3: Optimize based on early data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 Scale what's working, kill what's not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testing of creative, audiences, offers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DE7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7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ORGANIZATIONAL STRUCTURE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LEADERSHIP TEAM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32004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Oscar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- Vision &amp; Strategy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61688" y="1828800"/>
            <a:ext cx="3200400" cy="1828800"/>
          </a:xfrm>
          <a:prstGeom prst="rect">
            <a:avLst/>
          </a:prstGeom>
          <a:solidFill>
            <a:srgbClr val="FDE74C"/>
          </a:solidFill>
          <a:ln/>
        </p:spPr>
      </p:sp>
      <p:sp>
        <p:nvSpPr>
          <p:cNvPr id="7" name="Text 5"/>
          <p:cNvSpPr/>
          <p:nvPr/>
        </p:nvSpPr>
        <p:spPr>
          <a:xfrm>
            <a:off x="4361688" y="2103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Mani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44568" y="2743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 of Sales - Client Acquisition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08976" y="1828800"/>
            <a:ext cx="32004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808976" y="2103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Jonathan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991856" y="2743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 of Operations - You report here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MEDIA BUYING TEAM STRUCTURE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solidFill>
            <a:srgbClr val="FDE74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CYCLE MEDIA BUYERS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Mervyn &amp; Emmanuel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GHL Setup + Media Buying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432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POD MEDIA BUYERS (Meta Ads + Creative Operators)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 (Pod 2) | Raymond (Pods 1 &amp; 3)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campaign execution &amp; creative optimization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3931920"/>
            <a:ext cx="10332720" cy="1097280"/>
          </a:xfrm>
          <a:prstGeom prst="rect">
            <a:avLst/>
          </a:prstGeom>
          <a:solidFill>
            <a:srgbClr val="FDE74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GRAPHIC DESIGN &amp; AI EXPERTS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438912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6634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creative &amp; graphic design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PODS WORK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= 2-person team managing client portfolio</a:t>
            </a:r>
            <a:endParaRPr lang="en-US" sz="2000" dirty="0"/>
          </a:p>
          <a:p>
            <a:pPr indent="0" marL="0">
              <a:lnSpc>
                <a:spcPts val="3800"/>
              </a:lnSpc>
              <a:buNone/>
            </a:pPr>
            <a:endParaRPr lang="en-US" sz="2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1: Gianmarco &amp; Gregory (launched March 12)</a:t>
            </a:r>
            <a:endParaRPr lang="en-US" sz="2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2: Cole &amp; Tyler (experienced)</a:t>
            </a:r>
            <a:endParaRPr lang="en-US" sz="2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3: Kyle &amp; Abdullah (launching March 25)</a:t>
            </a:r>
            <a:endParaRPr lang="en-US" sz="2000" dirty="0"/>
          </a:p>
          <a:p>
            <a:pPr indent="0" marL="0">
              <a:lnSpc>
                <a:spcPts val="3800"/>
              </a:lnSpc>
              <a:buNone/>
            </a:pPr>
            <a:endParaRPr lang="en-US" sz="2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pod has dedicated media buyer assigned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DE7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8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1 VS LAYER 2 METRICS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UNDERSTANDING METRICS HIERARCHY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4572000" cy="3657600"/>
          </a:xfrm>
          <a:prstGeom prst="rect">
            <a:avLst/>
          </a:prstGeom>
          <a:solidFill>
            <a:srgbClr val="FDE74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1 METRICS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Bookings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Achievement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Booked Appointment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 of Booked Appointments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IMPORTANT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44805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see first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If good → Don't worry about Layer 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371600"/>
            <a:ext cx="48463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554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2 METRICS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Click-Through Rate (CTR)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Link Click (CPLC)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Conversion Rate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KPI Metrics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4114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44805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 here when Layer 1 is poor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Use to improve Layer 1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DIAGNOSTIC APPROACH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2743200" y="1645920"/>
            <a:ext cx="3200400" cy="731520"/>
          </a:xfrm>
          <a:prstGeom prst="rect">
            <a:avLst/>
          </a:prstGeom>
          <a:solidFill>
            <a:srgbClr val="FDE74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0" y="1737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Metrics</a:t>
            </a:r>
            <a:endParaRPr lang="en-US" sz="18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Good?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2286000" cy="914400"/>
          </a:xfrm>
          <a:prstGeom prst="rect">
            <a:avLst/>
          </a:prstGeom>
          <a:solidFill>
            <a:srgbClr val="00CC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Going!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need to worry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Layer 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2926080"/>
            <a:ext cx="2286000" cy="9144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Layer 2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CTR, CPLC,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rate, etc.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0" y="2926080"/>
            <a:ext cx="2560320" cy="914400"/>
          </a:xfrm>
          <a:prstGeom prst="rect">
            <a:avLst/>
          </a:prstGeom>
          <a:solidFill>
            <a:srgbClr val="FDE74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Layer 2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fix Layer 1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DE7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9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 DIAGNOSIS PLAYBOOK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ARE A PERFORMANCE DOCTOR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FDE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job: Diagnose problems</a:t>
            </a:r>
            <a:endParaRPr lang="en-US" sz="2800" dirty="0"/>
          </a:p>
          <a:p>
            <a:pPr algn="ctr" indent="0" marL="0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FDE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prescribe solutions</a:t>
            </a:r>
            <a:endParaRPr lang="en-US" sz="2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#1: LOW SURVEY CONVERSION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#1: Low Survey Conversion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Diagnosis: Landing page or survey friction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Simplify survey, test new landing page</a:t>
            </a:r>
            <a:endParaRPr lang="en-US" sz="2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#2: HIGH COST PER LEAD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#2: High Cost Per Lead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Diagnosis: Poor creative, weak targeting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Test new creatives, refine audience</a:t>
            </a:r>
            <a:endParaRPr lang="en-US" sz="2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#3: LOW QUALITY LEADS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#3: Low Quality Leads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Diagnosis: Targeting too broad, wrong messaging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Narrow targeting, adjust offer/copy</a:t>
            </a:r>
            <a:endParaRPr lang="en-US" sz="2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#4: LOW BOOKING RATE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#4: Low Booking Rate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Diagnosis: VA script issues, lead quality problem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Improve qualification, train VAs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#5: LOW SHOW RATE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#5: Low Show Rate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Diagnosis: Confirmation process, timing issues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Better reminders, optimize scheduling</a:t>
            </a:r>
            <a:endParaRPr lang="en-US" sz="2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DE7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10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CULTURE &amp; PERFORMANCE</a:t>
            </a:r>
            <a:endParaRPr lang="en-US" sz="4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OPERATING RHYTHM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Monday/Thursday: Post account updates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Tuesday/Friday: Review calls (all pods present)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Daily: Client communication, action step execution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Saturday: Work day (no meetings, stay responsive)</a:t>
            </a:r>
            <a:endParaRPr lang="en-US" sz="2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DAILY EXPECTATIONS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5-30 min Slack response time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communication with clients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steps executed same day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flagged immediately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Radical ownership of your pod</a:t>
            </a:r>
            <a:endParaRPr lang="en-US" sz="2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DE7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A-PLAYER STANDARD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9184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ownership</a:t>
            </a:r>
            <a:endParaRPr lang="en-US" sz="20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Proactive, not reactive</a:t>
            </a:r>
            <a:endParaRPr lang="en-US" sz="20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Solutions-oriented</a:t>
            </a:r>
            <a:endParaRPr lang="en-US" sz="20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learner</a:t>
            </a:r>
            <a:endParaRPr lang="en-US" sz="20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standards for self &amp; team</a:t>
            </a:r>
            <a:endParaRPr lang="en-US" sz="20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Coachable &amp; hungry to improve</a:t>
            </a:r>
            <a:endParaRPr lang="en-US" sz="2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DE7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11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&amp; SYSTEMS</a:t>
            </a:r>
            <a:endParaRPr lang="en-US" sz="4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INTERNAL SOFTWARE STACK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solidFill>
            <a:srgbClr val="FDE74C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63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LOGBOOK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7830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interaction tracking &amp; history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1033272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377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ACCOUNT MASTER DASHBOARD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account performance &amp; metrics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solidFill>
            <a:srgbClr val="FDE74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91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GOHIGHLEVEL ANALYTICS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6118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data, funnel metrics, appointments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206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ADS MANAGER ANALYTICS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45262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performance, ad metrics, spend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SETUP TOOLS (YOU COORDINATE)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GoHighLevel (CRM &amp; automation)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 Manager (campaigns)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builders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&amp; Porkbun (domains)</a:t>
            </a:r>
            <a:endParaRPr lang="en-US" sz="2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DAILY OPERATIONS TOOLS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Asana (task management)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(team communication)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Workspace (docs, sheets)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 (creative design)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Fathom (call recording &amp; transcription)</a:t>
            </a:r>
            <a:endParaRPr lang="en-US" sz="2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ACCESSING META BUSINESS SUITE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access methods:</a:t>
            </a:r>
            <a:endParaRPr lang="en-US" sz="2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Business Manager invitation</a:t>
            </a:r>
            <a:endParaRPr lang="en-US" sz="2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access request (for agencies)</a:t>
            </a:r>
            <a:endParaRPr lang="en-US" sz="2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account sharing permissions</a:t>
            </a:r>
            <a:endParaRPr lang="en-US" sz="2000" dirty="0"/>
          </a:p>
          <a:p>
            <a:pPr indent="0" marL="0">
              <a:lnSpc>
                <a:spcPts val="3600"/>
              </a:lnSpc>
              <a:buNone/>
            </a:pPr>
            <a:endParaRPr lang="en-US" sz="2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Issues: Access denied, missing permissions, 2FA problems</a:t>
            </a:r>
            <a:endParaRPr lang="en-US" sz="2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CONVERSION API (CAPI) SETUP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CAPI?</a:t>
            </a:r>
            <a:endParaRPr lang="en-US" sz="2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Server-to-server tracking that improves data accuracy and ad performance by sending conversion events directly from your server to Meta.</a:t>
            </a:r>
            <a:endParaRPr lang="en-US" sz="2000" dirty="0"/>
          </a:p>
          <a:p>
            <a:pPr indent="0" marL="0">
              <a:lnSpc>
                <a:spcPts val="3400"/>
              </a:lnSpc>
              <a:buNone/>
            </a:pPr>
            <a:endParaRPr lang="en-US" sz="2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Connect server-to-server tracking</a:t>
            </a:r>
            <a:endParaRPr lang="en-US" sz="2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Verify event match quality</a:t>
            </a:r>
            <a:endParaRPr lang="en-US" sz="2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Test conversions flowing correctly</a:t>
            </a:r>
            <a:endParaRPr lang="en-US" sz="2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PIXEL SEASONING &amp; CONDITIONING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full SOP for detailed pixel conditioning process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up new pixels gradually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quality events before optimization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learning phase to complete (50 events)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event quality scores</a:t>
            </a:r>
            <a:endParaRPr lang="en-US" sz="2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FATHOM - TEAM CALL VISIBILITY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has access to team calls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Pod calls are visible to all team members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from each other's conversations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this feature in your Fathom settings</a:t>
            </a:r>
            <a:endParaRPr lang="en-US" sz="2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ROLE AS POD LEADER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the quarterback of your pod</a:t>
            </a:r>
            <a:endParaRPr lang="en-US" sz="2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 client relationship end-to-end</a:t>
            </a:r>
            <a:endParaRPr lang="en-US" sz="2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with specialists (media buyers, VAs, designers)</a:t>
            </a:r>
            <a:endParaRPr lang="en-US" sz="2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problems and prescribe solutions</a:t>
            </a:r>
            <a:endParaRPr lang="en-US" sz="2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results and retention for your portfolio</a:t>
            </a:r>
            <a:endParaRPr lang="en-US" sz="2000" dirty="0"/>
          </a:p>
          <a:p>
            <a:pPr indent="0" marL="0">
              <a:lnSpc>
                <a:spcPts val="3600"/>
              </a:lnSpc>
              <a:buNone/>
            </a:pPr>
            <a:endParaRPr lang="en-US" sz="2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NOT doing all the tasks yourself</a:t>
            </a:r>
            <a:endParaRPr lang="en-US" sz="2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joining during aggressive growth phase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&gt; Acquisition (every cycle compounds)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metrics first, Layer 2 when diagnosing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the quarterback, not the entire team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Radical ownership = radical results</a:t>
            </a:r>
            <a:endParaRPr lang="en-US" sz="2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Day 1 homework (3 hours)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2: Shadow onboarding call, start service delivery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3-5: Practice, learn, execute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6-7: Transition to managing your pod</a:t>
            </a:r>
            <a:endParaRPr lang="en-US" sz="2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8+: Fully operational</a:t>
            </a:r>
            <a:endParaRPr lang="en-US" sz="2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DE7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WELCOME TO</a:t>
            </a:r>
            <a:endParaRPr lang="en-US" sz="4800" dirty="0"/>
          </a:p>
          <a:p>
            <a:pPr algn="ctr"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CONTRACTORS IGNITE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it's time to prove it.</a:t>
            </a:r>
            <a:endParaRPr lang="en-US" sz="22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something extraordinary together.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 3 Onboarding - Kyle &amp; Abdullah</dc:title>
  <dc:subject>PptxGenJS Presentation</dc:subject>
  <dc:creator>Contractors Ignite</dc:creator>
  <cp:lastModifiedBy>Contractors Ignite</cp:lastModifiedBy>
  <cp:revision>1</cp:revision>
  <dcterms:created xsi:type="dcterms:W3CDTF">2026-03-25T00:16:11Z</dcterms:created>
  <dcterms:modified xsi:type="dcterms:W3CDTF">2026-03-25T00:16:11Z</dcterms:modified>
</cp:coreProperties>
</file>